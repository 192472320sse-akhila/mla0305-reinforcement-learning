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68533E-88B8-43EB-AB98-8A783E8C815F}" v="2" dt="2026-08-19T04:19:40.0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hilaparla@outlook.com" userId="842c385e226dec0c" providerId="LiveId" clId="{D7837BB3-8774-4BB9-93E7-12A32861A120}"/>
    <pc:docChg chg="undo custSel addSld modSld">
      <pc:chgData name="akhilaparla@outlook.com" userId="842c385e226dec0c" providerId="LiveId" clId="{D7837BB3-8774-4BB9-93E7-12A32861A120}" dt="2026-08-23T11:18:36.403" v="399" actId="1076"/>
      <pc:docMkLst>
        <pc:docMk/>
      </pc:docMkLst>
      <pc:sldChg chg="modSp mod">
        <pc:chgData name="akhilaparla@outlook.com" userId="842c385e226dec0c" providerId="LiveId" clId="{D7837BB3-8774-4BB9-93E7-12A32861A120}" dt="2026-08-19T04:29:24.607" v="24" actId="207"/>
        <pc:sldMkLst>
          <pc:docMk/>
          <pc:sldMk cId="0" sldId="257"/>
        </pc:sldMkLst>
        <pc:spChg chg="mod">
          <ac:chgData name="akhilaparla@outlook.com" userId="842c385e226dec0c" providerId="LiveId" clId="{D7837BB3-8774-4BB9-93E7-12A32861A120}" dt="2026-08-19T04:29:24.607" v="24" actId="207"/>
          <ac:spMkLst>
            <pc:docMk/>
            <pc:sldMk cId="0" sldId="257"/>
            <ac:spMk id="10" creationId="{00000000-0000-0000-0000-000000000000}"/>
          </ac:spMkLst>
        </pc:spChg>
      </pc:sldChg>
      <pc:sldChg chg="modSp mod">
        <pc:chgData name="akhilaparla@outlook.com" userId="842c385e226dec0c" providerId="LiveId" clId="{D7837BB3-8774-4BB9-93E7-12A32861A120}" dt="2026-08-19T04:29:31" v="25" actId="207"/>
        <pc:sldMkLst>
          <pc:docMk/>
          <pc:sldMk cId="0" sldId="258"/>
        </pc:sldMkLst>
        <pc:spChg chg="mod">
          <ac:chgData name="akhilaparla@outlook.com" userId="842c385e226dec0c" providerId="LiveId" clId="{D7837BB3-8774-4BB9-93E7-12A32861A120}" dt="2026-08-19T04:29:31" v="25" actId="207"/>
          <ac:spMkLst>
            <pc:docMk/>
            <pc:sldMk cId="0" sldId="258"/>
            <ac:spMk id="10" creationId="{00000000-0000-0000-0000-000000000000}"/>
          </ac:spMkLst>
        </pc:spChg>
      </pc:sldChg>
      <pc:sldChg chg="modSp mod">
        <pc:chgData name="akhilaparla@outlook.com" userId="842c385e226dec0c" providerId="LiveId" clId="{D7837BB3-8774-4BB9-93E7-12A32861A120}" dt="2026-08-19T04:29:36.294" v="26" actId="207"/>
        <pc:sldMkLst>
          <pc:docMk/>
          <pc:sldMk cId="0" sldId="259"/>
        </pc:sldMkLst>
        <pc:spChg chg="mod">
          <ac:chgData name="akhilaparla@outlook.com" userId="842c385e226dec0c" providerId="LiveId" clId="{D7837BB3-8774-4BB9-93E7-12A32861A120}" dt="2026-08-19T04:29:36.294" v="26" actId="207"/>
          <ac:spMkLst>
            <pc:docMk/>
            <pc:sldMk cId="0" sldId="259"/>
            <ac:spMk id="9" creationId="{00000000-0000-0000-0000-000000000000}"/>
          </ac:spMkLst>
        </pc:spChg>
      </pc:sldChg>
      <pc:sldChg chg="modSp mod">
        <pc:chgData name="akhilaparla@outlook.com" userId="842c385e226dec0c" providerId="LiveId" clId="{D7837BB3-8774-4BB9-93E7-12A32861A120}" dt="2026-08-19T04:29:40.870" v="27" actId="207"/>
        <pc:sldMkLst>
          <pc:docMk/>
          <pc:sldMk cId="0" sldId="260"/>
        </pc:sldMkLst>
        <pc:spChg chg="mod">
          <ac:chgData name="akhilaparla@outlook.com" userId="842c385e226dec0c" providerId="LiveId" clId="{D7837BB3-8774-4BB9-93E7-12A32861A120}" dt="2026-08-19T04:29:40.870" v="27" actId="207"/>
          <ac:spMkLst>
            <pc:docMk/>
            <pc:sldMk cId="0" sldId="260"/>
            <ac:spMk id="9" creationId="{00000000-0000-0000-0000-000000000000}"/>
          </ac:spMkLst>
        </pc:spChg>
      </pc:sldChg>
      <pc:sldChg chg="modSp mod">
        <pc:chgData name="akhilaparla@outlook.com" userId="842c385e226dec0c" providerId="LiveId" clId="{D7837BB3-8774-4BB9-93E7-12A32861A120}" dt="2026-08-19T04:29:46.728" v="28" actId="207"/>
        <pc:sldMkLst>
          <pc:docMk/>
          <pc:sldMk cId="0" sldId="261"/>
        </pc:sldMkLst>
        <pc:spChg chg="mod">
          <ac:chgData name="akhilaparla@outlook.com" userId="842c385e226dec0c" providerId="LiveId" clId="{D7837BB3-8774-4BB9-93E7-12A32861A120}" dt="2026-08-19T04:29:46.728" v="28" actId="207"/>
          <ac:spMkLst>
            <pc:docMk/>
            <pc:sldMk cId="0" sldId="261"/>
            <ac:spMk id="9" creationId="{00000000-0000-0000-0000-000000000000}"/>
          </ac:spMkLst>
        </pc:spChg>
      </pc:sldChg>
      <pc:sldChg chg="modSp mod">
        <pc:chgData name="akhilaparla@outlook.com" userId="842c385e226dec0c" providerId="LiveId" clId="{D7837BB3-8774-4BB9-93E7-12A32861A120}" dt="2026-08-19T04:31:24.169" v="35" actId="207"/>
        <pc:sldMkLst>
          <pc:docMk/>
          <pc:sldMk cId="0" sldId="262"/>
        </pc:sldMkLst>
        <pc:spChg chg="mod">
          <ac:chgData name="akhilaparla@outlook.com" userId="842c385e226dec0c" providerId="LiveId" clId="{D7837BB3-8774-4BB9-93E7-12A32861A120}" dt="2026-08-19T04:31:24.169" v="35" actId="207"/>
          <ac:spMkLst>
            <pc:docMk/>
            <pc:sldMk cId="0" sldId="262"/>
            <ac:spMk id="10" creationId="{00000000-0000-0000-0000-000000000000}"/>
          </ac:spMkLst>
        </pc:spChg>
      </pc:sldChg>
      <pc:sldChg chg="modSp mod">
        <pc:chgData name="akhilaparla@outlook.com" userId="842c385e226dec0c" providerId="LiveId" clId="{D7837BB3-8774-4BB9-93E7-12A32861A120}" dt="2026-08-19T04:31:36.839" v="36" actId="207"/>
        <pc:sldMkLst>
          <pc:docMk/>
          <pc:sldMk cId="0" sldId="263"/>
        </pc:sldMkLst>
        <pc:spChg chg="mod">
          <ac:chgData name="akhilaparla@outlook.com" userId="842c385e226dec0c" providerId="LiveId" clId="{D7837BB3-8774-4BB9-93E7-12A32861A120}" dt="2026-08-19T04:31:36.839" v="36" actId="207"/>
          <ac:spMkLst>
            <pc:docMk/>
            <pc:sldMk cId="0" sldId="263"/>
            <ac:spMk id="9" creationId="{00000000-0000-0000-0000-000000000000}"/>
          </ac:spMkLst>
        </pc:spChg>
      </pc:sldChg>
      <pc:sldChg chg="addSp modSp mod">
        <pc:chgData name="akhilaparla@outlook.com" userId="842c385e226dec0c" providerId="LiveId" clId="{D7837BB3-8774-4BB9-93E7-12A32861A120}" dt="2026-08-19T04:32:36.212" v="37" actId="207"/>
        <pc:sldMkLst>
          <pc:docMk/>
          <pc:sldMk cId="0" sldId="264"/>
        </pc:sldMkLst>
        <pc:spChg chg="mod">
          <ac:chgData name="akhilaparla@outlook.com" userId="842c385e226dec0c" providerId="LiveId" clId="{D7837BB3-8774-4BB9-93E7-12A32861A120}" dt="2026-08-19T04:32:36.212" v="37" actId="207"/>
          <ac:spMkLst>
            <pc:docMk/>
            <pc:sldMk cId="0" sldId="264"/>
            <ac:spMk id="9" creationId="{00000000-0000-0000-0000-000000000000}"/>
          </ac:spMkLst>
        </pc:spChg>
      </pc:sldChg>
      <pc:sldChg chg="modSp mod">
        <pc:chgData name="akhilaparla@outlook.com" userId="842c385e226dec0c" providerId="LiveId" clId="{D7837BB3-8774-4BB9-93E7-12A32861A120}" dt="2026-08-19T04:32:48.314" v="38" actId="207"/>
        <pc:sldMkLst>
          <pc:docMk/>
          <pc:sldMk cId="0" sldId="265"/>
        </pc:sldMkLst>
        <pc:spChg chg="mod">
          <ac:chgData name="akhilaparla@outlook.com" userId="842c385e226dec0c" providerId="LiveId" clId="{D7837BB3-8774-4BB9-93E7-12A32861A120}" dt="2026-08-19T04:32:48.314" v="38" actId="207"/>
          <ac:spMkLst>
            <pc:docMk/>
            <pc:sldMk cId="0" sldId="265"/>
            <ac:spMk id="10" creationId="{00000000-0000-0000-0000-000000000000}"/>
          </ac:spMkLst>
        </pc:spChg>
      </pc:sldChg>
      <pc:sldChg chg="modSp mod">
        <pc:chgData name="akhilaparla@outlook.com" userId="842c385e226dec0c" providerId="LiveId" clId="{D7837BB3-8774-4BB9-93E7-12A32861A120}" dt="2026-08-19T04:32:54.597" v="39" actId="207"/>
        <pc:sldMkLst>
          <pc:docMk/>
          <pc:sldMk cId="0" sldId="266"/>
        </pc:sldMkLst>
        <pc:spChg chg="mod">
          <ac:chgData name="akhilaparla@outlook.com" userId="842c385e226dec0c" providerId="LiveId" clId="{D7837BB3-8774-4BB9-93E7-12A32861A120}" dt="2026-08-19T04:32:54.597" v="39" actId="207"/>
          <ac:spMkLst>
            <pc:docMk/>
            <pc:sldMk cId="0" sldId="266"/>
            <ac:spMk id="9" creationId="{00000000-0000-0000-0000-000000000000}"/>
          </ac:spMkLst>
        </pc:spChg>
      </pc:sldChg>
      <pc:sldChg chg="addSp modSp new mod modClrScheme chgLayout">
        <pc:chgData name="akhilaparla@outlook.com" userId="842c385e226dec0c" providerId="LiveId" clId="{D7837BB3-8774-4BB9-93E7-12A32861A120}" dt="2026-08-23T11:18:36.403" v="399" actId="1076"/>
        <pc:sldMkLst>
          <pc:docMk/>
          <pc:sldMk cId="3846992711" sldId="267"/>
        </pc:sldMkLst>
        <pc:spChg chg="add mod">
          <ac:chgData name="akhilaparla@outlook.com" userId="842c385e226dec0c" providerId="LiveId" clId="{D7837BB3-8774-4BB9-93E7-12A32861A120}" dt="2026-08-23T11:18:36.403" v="399" actId="1076"/>
          <ac:spMkLst>
            <pc:docMk/>
            <pc:sldMk cId="3846992711" sldId="267"/>
            <ac:spMk id="2" creationId="{57CDCA3D-DBE6-CECE-C440-969F19415C62}"/>
          </ac:spMkLst>
        </pc:spChg>
        <pc:spChg chg="add mod">
          <ac:chgData name="akhilaparla@outlook.com" userId="842c385e226dec0c" providerId="LiveId" clId="{D7837BB3-8774-4BB9-93E7-12A32861A120}" dt="2026-08-23T11:18:31.760" v="398" actId="1076"/>
          <ac:spMkLst>
            <pc:docMk/>
            <pc:sldMk cId="3846992711" sldId="267"/>
            <ac:spMk id="3" creationId="{0BCC565C-3A67-CE97-F700-4C6C5F68D05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D"/>
        </a:solidFill>
        <a:effectLst/>
      </p:bgPr>
    </p:bg>
    <p:spTree>
      <p:nvGrpSpPr>
        <p:cNvPr id="1" name=""/>
        <p:cNvGrpSpPr/>
        <p:nvPr/>
      </p:nvGrpSpPr>
      <p:grpSpPr>
        <a:xfrm>
          <a:off x="0" y="0"/>
          <a:ext cx="0" cy="0"/>
          <a:chOff x="0" y="0"/>
          <a:chExt cx="0" cy="0"/>
        </a:xfrm>
      </p:grpSpPr>
      <p:sp>
        <p:nvSpPr>
          <p:cNvPr id="2" name="TextBox 1"/>
          <p:cNvSpPr txBox="1"/>
          <p:nvPr/>
        </p:nvSpPr>
        <p:spPr>
          <a:xfrm>
            <a:off x="731520" y="1051560"/>
            <a:ext cx="10698480" cy="457200"/>
          </a:xfrm>
          <a:prstGeom prst="rect">
            <a:avLst/>
          </a:prstGeom>
          <a:noFill/>
        </p:spPr>
        <p:txBody>
          <a:bodyPr wrap="square">
            <a:spAutoFit/>
          </a:bodyPr>
          <a:lstStyle/>
          <a:p>
            <a:pPr algn="l">
              <a:defRPr sz="2200" b="1">
                <a:solidFill>
                  <a:srgbClr val="BECDE1"/>
                </a:solidFill>
                <a:latin typeface="Aptos"/>
              </a:defRPr>
            </a:pPr>
            <a:r>
              <a:t>UNIT V</a:t>
            </a:r>
          </a:p>
        </p:txBody>
      </p:sp>
      <p:sp>
        <p:nvSpPr>
          <p:cNvPr id="3" name="TextBox 2"/>
          <p:cNvSpPr txBox="1"/>
          <p:nvPr/>
        </p:nvSpPr>
        <p:spPr>
          <a:xfrm>
            <a:off x="731520" y="1691640"/>
            <a:ext cx="10698480" cy="822960"/>
          </a:xfrm>
          <a:prstGeom prst="rect">
            <a:avLst/>
          </a:prstGeom>
          <a:noFill/>
        </p:spPr>
        <p:txBody>
          <a:bodyPr wrap="square">
            <a:spAutoFit/>
          </a:bodyPr>
          <a:lstStyle/>
          <a:p>
            <a:pPr algn="l">
              <a:defRPr sz="3200" b="1">
                <a:solidFill>
                  <a:srgbClr val="FFFFFF"/>
                </a:solidFill>
                <a:latin typeface="Aptos"/>
              </a:defRPr>
            </a:pPr>
            <a:r>
              <a:t>TOUGH MISSING-BLOCK MCQ QUIZ</a:t>
            </a:r>
          </a:p>
        </p:txBody>
      </p:sp>
      <p:sp>
        <p:nvSpPr>
          <p:cNvPr id="4" name="TextBox 3"/>
          <p:cNvSpPr txBox="1"/>
          <p:nvPr/>
        </p:nvSpPr>
        <p:spPr>
          <a:xfrm>
            <a:off x="749808" y="2697480"/>
            <a:ext cx="10332720" cy="914400"/>
          </a:xfrm>
          <a:prstGeom prst="rect">
            <a:avLst/>
          </a:prstGeom>
          <a:noFill/>
        </p:spPr>
        <p:txBody>
          <a:bodyPr wrap="square">
            <a:spAutoFit/>
          </a:bodyPr>
          <a:lstStyle/>
          <a:p>
            <a:pPr algn="l">
              <a:defRPr sz="2000" b="0">
                <a:solidFill>
                  <a:srgbClr val="DCE6F4"/>
                </a:solidFill>
                <a:latin typeface="Aptos"/>
              </a:defRPr>
            </a:pPr>
            <a:r>
              <a:t>Hierarchical RL • MAXQ • Meta-RL • MARL • POMDP • Ethics</a:t>
            </a:r>
          </a:p>
        </p:txBody>
      </p:sp>
      <p:sp>
        <p:nvSpPr>
          <p:cNvPr id="5" name="Rounded Rectangle 4"/>
          <p:cNvSpPr/>
          <p:nvPr/>
        </p:nvSpPr>
        <p:spPr>
          <a:xfrm>
            <a:off x="749808" y="3977639"/>
            <a:ext cx="3657600" cy="640080"/>
          </a:xfrm>
          <a:prstGeom prst="roundRect">
            <a:avLst/>
          </a:prstGeom>
          <a:solidFill>
            <a:srgbClr val="E0EEF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223D"/>
                </a:solidFill>
                <a:latin typeface="Aptos"/>
              </a:defRPr>
            </a:pPr>
            <a:r>
              <a:t>10 SCENARIO-BASED QUESTIONS</a:t>
            </a:r>
          </a:p>
        </p:txBody>
      </p:sp>
      <p:sp>
        <p:nvSpPr>
          <p:cNvPr id="6" name="TextBox 5"/>
          <p:cNvSpPr txBox="1"/>
          <p:nvPr/>
        </p:nvSpPr>
        <p:spPr>
          <a:xfrm>
            <a:off x="777240" y="4983480"/>
            <a:ext cx="9875520" cy="457200"/>
          </a:xfrm>
          <a:prstGeom prst="rect">
            <a:avLst/>
          </a:prstGeom>
          <a:noFill/>
        </p:spPr>
        <p:txBody>
          <a:bodyPr wrap="square">
            <a:spAutoFit/>
          </a:bodyPr>
          <a:lstStyle/>
          <a:p>
            <a:pPr algn="l">
              <a:defRPr sz="1500" b="0">
                <a:solidFill>
                  <a:srgbClr val="BECDE1"/>
                </a:solidFill>
                <a:latin typeface="Aptos"/>
              </a:defRPr>
            </a:pPr>
            <a:r>
              <a:t>Fill the missing concept by selecting the best option.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Q1 • HRL — Temporal Abstraction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02</a:t>
            </a:r>
          </a:p>
        </p:txBody>
      </p:sp>
      <p:sp>
        <p:nvSpPr>
          <p:cNvPr id="5" name="Rounded Rectangle 4"/>
          <p:cNvSpPr/>
          <p:nvPr/>
        </p:nvSpPr>
        <p:spPr>
          <a:xfrm>
            <a:off x="502920" y="914400"/>
            <a:ext cx="11155680" cy="1828800"/>
          </a:xfrm>
          <a:prstGeom prst="roundRect">
            <a:avLst/>
          </a:prstGeom>
          <a:solidFill>
            <a:srgbClr val="FFFFFF"/>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robot must deliver an item through several rooms. A high-level policy selects the current room as a sub-goal, while a lower-level policy performs navigation actions repeatedly until that sub-goal is completed. This design primarily demonstrates □□□□.</a:t>
            </a:r>
          </a:p>
        </p:txBody>
      </p:sp>
      <p:sp>
        <p:nvSpPr>
          <p:cNvPr id="7" name="Rounded Rectangle 6"/>
          <p:cNvSpPr/>
          <p:nvPr/>
        </p:nvSpPr>
        <p:spPr>
          <a:xfrm>
            <a:off x="3886200" y="2907792"/>
            <a:ext cx="4389120" cy="658368"/>
          </a:xfrm>
          <a:prstGeom prst="roundRect">
            <a:avLst/>
          </a:prstGeom>
          <a:solidFill>
            <a:srgbClr val="F5F7FA"/>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reward shaping</a:t>
            </a:r>
          </a:p>
        </p:txBody>
      </p:sp>
      <p:sp>
        <p:nvSpPr>
          <p:cNvPr id="10" name="Rounded Rectangle 9"/>
          <p:cNvSpPr/>
          <p:nvPr/>
        </p:nvSpPr>
        <p:spPr>
          <a:xfrm>
            <a:off x="6263640" y="4297680"/>
            <a:ext cx="5257800" cy="749808"/>
          </a:xfrm>
          <a:prstGeom prst="roundRect">
            <a:avLst/>
          </a:prstGeom>
          <a:solidFill>
            <a:srgbClr val="92D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experience replay</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policy distillation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Q2 • HRL — Hierarchy Design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03</a:t>
            </a:r>
          </a:p>
        </p:txBody>
      </p:sp>
      <p:sp>
        <p:nvSpPr>
          <p:cNvPr id="5" name="Rounded Rectangle 4"/>
          <p:cNvSpPr/>
          <p:nvPr/>
        </p:nvSpPr>
        <p:spPr>
          <a:xfrm>
            <a:off x="502920" y="914400"/>
            <a:ext cx="11155680" cy="1828800"/>
          </a:xfrm>
          <a:prstGeom prst="roundRect">
            <a:avLst/>
          </a:prstGeom>
          <a:solidFill>
            <a:srgbClr val="FFFFFF"/>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An RL system has a mission policy that changes only when a major objective is completed, while a skill policy changes actions at every time step. The key advantage is that the upper policy operates at a □□□□ time scale than the lower policy.</a:t>
            </a:r>
          </a:p>
        </p:txBody>
      </p:sp>
      <p:sp>
        <p:nvSpPr>
          <p:cNvPr id="7" name="Rounded Rectangle 6"/>
          <p:cNvSpPr/>
          <p:nvPr/>
        </p:nvSpPr>
        <p:spPr>
          <a:xfrm>
            <a:off x="3886200" y="2907792"/>
            <a:ext cx="4389120" cy="658368"/>
          </a:xfrm>
          <a:prstGeom prst="roundRect">
            <a:avLst/>
          </a:prstGeom>
          <a:solidFill>
            <a:srgbClr val="F5F7FA"/>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faster</a:t>
            </a:r>
          </a:p>
        </p:txBody>
      </p:sp>
      <p:sp>
        <p:nvSpPr>
          <p:cNvPr id="10" name="Rounded Rectangle 9"/>
          <p:cNvSpPr/>
          <p:nvPr/>
        </p:nvSpPr>
        <p:spPr>
          <a:xfrm>
            <a:off x="6263640" y="4297680"/>
            <a:ext cx="5257800" cy="749808"/>
          </a:xfrm>
          <a:prstGeom prst="roundRect">
            <a:avLst/>
          </a:prstGeom>
          <a:solidFill>
            <a:srgbClr val="92D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B.  slower</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randomized</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continuous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Q3 • HAM — Structured Exploration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04</a:t>
            </a:r>
          </a:p>
        </p:txBody>
      </p:sp>
      <p:sp>
        <p:nvSpPr>
          <p:cNvPr id="5" name="Rounded Rectangle 4"/>
          <p:cNvSpPr/>
          <p:nvPr/>
        </p:nvSpPr>
        <p:spPr>
          <a:xfrm>
            <a:off x="502920" y="914400"/>
            <a:ext cx="11155680" cy="1828800"/>
          </a:xfrm>
          <a:prstGeom prst="roundRect">
            <a:avLst/>
          </a:prstGeom>
          <a:solidFill>
            <a:srgbClr val="FFFFFF"/>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In a warehouse task, the designer knows that an agent must first locate an item, then pick it up, and finally deliver it. The task structure is encoded before learning, while some choices inside the structure are learned. This most directly describes a □□□□.</a:t>
            </a:r>
          </a:p>
        </p:txBody>
      </p:sp>
      <p:sp>
        <p:nvSpPr>
          <p:cNvPr id="7" name="Rounded Rectangle 6"/>
          <p:cNvSpPr/>
          <p:nvPr/>
        </p:nvSpPr>
        <p:spPr>
          <a:xfrm>
            <a:off x="3886200" y="2907792"/>
            <a:ext cx="4389120" cy="658368"/>
          </a:xfrm>
          <a:prstGeom prst="roundRect">
            <a:avLst/>
          </a:prstGeom>
          <a:solidFill>
            <a:srgbClr val="F5F7FA"/>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92D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A.  Hierarchical Abstract Machine</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Markov reward process</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multi-armed bandit</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policy gradient baseline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Q4 • MAXQ — Value Decomposition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05</a:t>
            </a:r>
          </a:p>
        </p:txBody>
      </p:sp>
      <p:sp>
        <p:nvSpPr>
          <p:cNvPr id="5" name="Rounded Rectangle 4"/>
          <p:cNvSpPr/>
          <p:nvPr/>
        </p:nvSpPr>
        <p:spPr>
          <a:xfrm>
            <a:off x="502920" y="914400"/>
            <a:ext cx="11155680" cy="1828800"/>
          </a:xfrm>
          <a:prstGeom prst="roundRect">
            <a:avLst/>
          </a:prstGeom>
          <a:solidFill>
            <a:srgbClr val="FFFFFF"/>
          </a:solidFill>
          <a:ln w="17780">
            <a:solidFill>
              <a:srgbClr val="EB7E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navigation task is decomposed into Navigate-To-Room, Pick-Object, and Deliver-Object subtasks. Instead of learning one monolithic value function, the system estimates values associated with the subtasks and their parent task. This is characteristic of □□□□.</a:t>
            </a:r>
          </a:p>
        </p:txBody>
      </p:sp>
      <p:sp>
        <p:nvSpPr>
          <p:cNvPr id="7" name="Rounded Rectangle 6"/>
          <p:cNvSpPr/>
          <p:nvPr/>
        </p:nvSpPr>
        <p:spPr>
          <a:xfrm>
            <a:off x="3886200" y="2907792"/>
            <a:ext cx="4389120" cy="658368"/>
          </a:xfrm>
          <a:prstGeom prst="roundRect">
            <a:avLst/>
          </a:prstGeom>
          <a:solidFill>
            <a:srgbClr val="F5F7FA"/>
          </a:solidFill>
          <a:ln w="17780">
            <a:solidFill>
              <a:srgbClr val="EB7E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92D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A.  MAXQ decomposition</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Monte Carlo tree search</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Q-learning without states</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belief-state filtering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Q5 • Meta-RL — Fast Adaptation</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06</a:t>
            </a:r>
          </a:p>
        </p:txBody>
      </p:sp>
      <p:sp>
        <p:nvSpPr>
          <p:cNvPr id="5" name="Rounded Rectangle 4"/>
          <p:cNvSpPr/>
          <p:nvPr/>
        </p:nvSpPr>
        <p:spPr>
          <a:xfrm>
            <a:off x="502920" y="914400"/>
            <a:ext cx="11155680" cy="1828800"/>
          </a:xfrm>
          <a:prstGeom prst="roundRect">
            <a:avLst/>
          </a:prstGeom>
          <a:solidFill>
            <a:srgbClr val="FFFFFF"/>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During training, an RL agent encounters hundreds of related traffic-control tasks with different traffic patterns. At deployment, it receives only a small amount of experience from a new pattern and adapts rapidly. The training objective is best described as □□□□.</a:t>
            </a:r>
          </a:p>
        </p:txBody>
      </p:sp>
      <p:sp>
        <p:nvSpPr>
          <p:cNvPr id="7" name="Rounded Rectangle 6"/>
          <p:cNvSpPr/>
          <p:nvPr/>
        </p:nvSpPr>
        <p:spPr>
          <a:xfrm>
            <a:off x="3886200" y="2907792"/>
            <a:ext cx="4389120" cy="658368"/>
          </a:xfrm>
          <a:prstGeom prst="roundRect">
            <a:avLst/>
          </a:prstGeom>
          <a:solidFill>
            <a:srgbClr val="F5F7FA"/>
          </a:solidFill>
          <a:ln w="17780">
            <a:solidFill>
              <a:srgbClr val="2291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92D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A.  learning a transferable learning strategy</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maximizing a fixed single-task policy</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removing task variability completely</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replacing rewards with supervised labels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Q6 • MARL — Non-Stationarity</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07</a:t>
            </a:r>
          </a:p>
        </p:txBody>
      </p:sp>
      <p:sp>
        <p:nvSpPr>
          <p:cNvPr id="5" name="Rounded Rectangle 4"/>
          <p:cNvSpPr/>
          <p:nvPr/>
        </p:nvSpPr>
        <p:spPr>
          <a:xfrm>
            <a:off x="502920" y="914400"/>
            <a:ext cx="11155680" cy="1828800"/>
          </a:xfrm>
          <a:prstGeom prst="roundRect">
            <a:avLst/>
          </a:prstGeom>
          <a:solidFill>
            <a:srgbClr val="FFFFFF"/>
          </a:solidFill>
          <a:ln w="17780">
            <a:solidFill>
              <a:srgbClr val="CD48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Two autonomous vehicles learn simultaneously. Vehicle A updates its policy, changing the behavior that Vehicle B observes, even though the road environment itself has not changed. From Vehicle B's learning perspective, the environment becomes effectively □□□□.</a:t>
            </a:r>
          </a:p>
        </p:txBody>
      </p:sp>
      <p:sp>
        <p:nvSpPr>
          <p:cNvPr id="7" name="Rounded Rectangle 6"/>
          <p:cNvSpPr/>
          <p:nvPr/>
        </p:nvSpPr>
        <p:spPr>
          <a:xfrm>
            <a:off x="3886200" y="2907792"/>
            <a:ext cx="4389120" cy="658368"/>
          </a:xfrm>
          <a:prstGeom prst="roundRect">
            <a:avLst/>
          </a:prstGeom>
          <a:solidFill>
            <a:srgbClr val="F5F7FA"/>
          </a:solidFill>
          <a:ln w="17780">
            <a:solidFill>
              <a:srgbClr val="CD48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stationary</a:t>
            </a:r>
          </a:p>
        </p:txBody>
      </p:sp>
      <p:sp>
        <p:nvSpPr>
          <p:cNvPr id="10" name="Rounded Rectangle 9"/>
          <p:cNvSpPr/>
          <p:nvPr/>
        </p:nvSpPr>
        <p:spPr>
          <a:xfrm>
            <a:off x="6263640" y="4297680"/>
            <a:ext cx="5257800" cy="749808"/>
          </a:xfrm>
          <a:prstGeom prst="roundRect">
            <a:avLst/>
          </a:prstGeom>
          <a:solidFill>
            <a:srgbClr val="92D05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B.  non-stationary</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fully observable</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deterministic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Q7 • MARL — Credit Assignment</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08</a:t>
            </a:r>
          </a:p>
        </p:txBody>
      </p:sp>
      <p:sp>
        <p:nvSpPr>
          <p:cNvPr id="5" name="Rounded Rectangle 4"/>
          <p:cNvSpPr/>
          <p:nvPr/>
        </p:nvSpPr>
        <p:spPr>
          <a:xfrm>
            <a:off x="502920" y="914400"/>
            <a:ext cx="11155680" cy="1828800"/>
          </a:xfrm>
          <a:prstGeom prst="roundRect">
            <a:avLst/>
          </a:prstGeom>
          <a:solidFill>
            <a:srgbClr val="FFFFFF"/>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Four agents cooperate to complete a task, but only one shared reward is received after completion. The main difficulty is determining which agent's actions contributed to the final outcome. This challenge is called □□□□.</a:t>
            </a:r>
          </a:p>
        </p:txBody>
      </p:sp>
      <p:sp>
        <p:nvSpPr>
          <p:cNvPr id="7" name="Rounded Rectangle 6"/>
          <p:cNvSpPr/>
          <p:nvPr/>
        </p:nvSpPr>
        <p:spPr>
          <a:xfrm>
            <a:off x="3886200" y="2907792"/>
            <a:ext cx="4389120" cy="658368"/>
          </a:xfrm>
          <a:prstGeom prst="roundRect">
            <a:avLst/>
          </a:prstGeom>
          <a:solidFill>
            <a:srgbClr val="F5F7FA"/>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92D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A.  credit assignment</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belief updating</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domain randomization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Q8 • POMDP — Belief State</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09</a:t>
            </a:r>
          </a:p>
        </p:txBody>
      </p:sp>
      <p:sp>
        <p:nvSpPr>
          <p:cNvPr id="5" name="Rounded Rectangle 4"/>
          <p:cNvSpPr/>
          <p:nvPr/>
        </p:nvSpPr>
        <p:spPr>
          <a:xfrm>
            <a:off x="502920" y="914400"/>
            <a:ext cx="11155680" cy="1828800"/>
          </a:xfrm>
          <a:prstGeom prst="roundRect">
            <a:avLst/>
          </a:prstGeom>
          <a:solidFill>
            <a:srgbClr val="FFFFFF"/>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robot cannot directly observe whether a corridor is occupied. It receives noisy sensor readings and maintains probabilities over possible hidden states before selecting an action. The probability distribution used for decision-making is its □□□□.</a:t>
            </a:r>
          </a:p>
        </p:txBody>
      </p:sp>
      <p:sp>
        <p:nvSpPr>
          <p:cNvPr id="7" name="Rounded Rectangle 6"/>
          <p:cNvSpPr/>
          <p:nvPr/>
        </p:nvSpPr>
        <p:spPr>
          <a:xfrm>
            <a:off x="3886200" y="2907792"/>
            <a:ext cx="4389120" cy="658368"/>
          </a:xfrm>
          <a:prstGeom prst="roundRect">
            <a:avLst/>
          </a:prstGeom>
          <a:solidFill>
            <a:srgbClr val="F5F7FA"/>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92D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A.  belief state</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reward function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action-value table</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termination condition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Q9 • Ethics — Reward Hacking</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10</a:t>
            </a:r>
          </a:p>
        </p:txBody>
      </p:sp>
      <p:sp>
        <p:nvSpPr>
          <p:cNvPr id="5" name="Rounded Rectangle 4"/>
          <p:cNvSpPr/>
          <p:nvPr/>
        </p:nvSpPr>
        <p:spPr>
          <a:xfrm>
            <a:off x="502920" y="914400"/>
            <a:ext cx="11155680" cy="1828800"/>
          </a:xfrm>
          <a:prstGeom prst="roundRect">
            <a:avLst/>
          </a:prstGeom>
          <a:solidFill>
            <a:srgbClr val="FFFFFF"/>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An RL system is rewarded for reducing delivery time. It discovers a behavior that minimizes the measured time but repeatedly violates an important safety constraint that was not included in the reward. This is a classic example of □□□□.</a:t>
            </a:r>
          </a:p>
        </p:txBody>
      </p:sp>
      <p:sp>
        <p:nvSpPr>
          <p:cNvPr id="7" name="Rounded Rectangle 6"/>
          <p:cNvSpPr/>
          <p:nvPr/>
        </p:nvSpPr>
        <p:spPr>
          <a:xfrm>
            <a:off x="3886200" y="2907792"/>
            <a:ext cx="4389120" cy="658368"/>
          </a:xfrm>
          <a:prstGeom prst="roundRect">
            <a:avLst/>
          </a:prstGeom>
          <a:solidFill>
            <a:srgbClr val="F5F7FA"/>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E0EEFB"/>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A.  reward hacking</a:t>
            </a:r>
          </a:p>
        </p:txBody>
      </p:sp>
      <p:sp>
        <p:nvSpPr>
          <p:cNvPr id="10" name="Rounded Rectangle 9"/>
          <p:cNvSpPr/>
          <p:nvPr/>
        </p:nvSpPr>
        <p:spPr>
          <a:xfrm>
            <a:off x="6263640" y="4297680"/>
            <a:ext cx="5257800" cy="749808"/>
          </a:xfrm>
          <a:prstGeom prst="roundRect">
            <a:avLst/>
          </a:prstGeom>
          <a:solidFill>
            <a:srgbClr val="FF0000"/>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B.  temporal abstraction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centralized training</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partial observability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1422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9784080" cy="365760"/>
          </a:xfrm>
          <a:prstGeom prst="rect">
            <a:avLst/>
          </a:prstGeom>
          <a:noFill/>
        </p:spPr>
        <p:txBody>
          <a:bodyPr wrap="square">
            <a:spAutoFit/>
          </a:bodyPr>
          <a:lstStyle/>
          <a:p>
            <a:pPr algn="l">
              <a:defRPr sz="2300" b="1">
                <a:solidFill>
                  <a:srgbClr val="FFFFFF"/>
                </a:solidFill>
                <a:latin typeface="Aptos"/>
              </a:defRPr>
            </a:pPr>
            <a:r>
              <a:t>Q10 • Integrated Real-World RL</a:t>
            </a:r>
          </a:p>
        </p:txBody>
      </p:sp>
      <p:sp>
        <p:nvSpPr>
          <p:cNvPr id="4" name="TextBox 3"/>
          <p:cNvSpPr txBox="1"/>
          <p:nvPr/>
        </p:nvSpPr>
        <p:spPr>
          <a:xfrm>
            <a:off x="10332720" y="146304"/>
            <a:ext cx="1097280" cy="228600"/>
          </a:xfrm>
          <a:prstGeom prst="rect">
            <a:avLst/>
          </a:prstGeom>
          <a:noFill/>
        </p:spPr>
        <p:txBody>
          <a:bodyPr wrap="square">
            <a:spAutoFit/>
          </a:bodyPr>
          <a:lstStyle/>
          <a:p>
            <a:pPr algn="r">
              <a:defRPr sz="1000" b="1">
                <a:solidFill>
                  <a:srgbClr val="BECDE1"/>
                </a:solidFill>
                <a:latin typeface="Aptos"/>
              </a:defRPr>
            </a:pPr>
            <a:r>
              <a:t>11</a:t>
            </a:r>
          </a:p>
        </p:txBody>
      </p:sp>
      <p:sp>
        <p:nvSpPr>
          <p:cNvPr id="5" name="Rounded Rectangle 4"/>
          <p:cNvSpPr/>
          <p:nvPr/>
        </p:nvSpPr>
        <p:spPr>
          <a:xfrm>
            <a:off x="502920" y="914400"/>
            <a:ext cx="11155680" cy="1828800"/>
          </a:xfrm>
          <a:prstGeom prst="roundRect">
            <a:avLst/>
          </a:prstGeom>
          <a:solidFill>
            <a:srgbClr val="FFFFFF"/>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232A34"/>
                </a:solidFill>
                <a:latin typeface="Aptos"/>
              </a:defRPr>
            </a:pPr>
            <a:endParaRPr/>
          </a:p>
        </p:txBody>
      </p:sp>
      <p:sp>
        <p:nvSpPr>
          <p:cNvPr id="6" name="TextBox 5"/>
          <p:cNvSpPr txBox="1"/>
          <p:nvPr/>
        </p:nvSpPr>
        <p:spPr>
          <a:xfrm>
            <a:off x="777240" y="1143000"/>
            <a:ext cx="10607040" cy="1325880"/>
          </a:xfrm>
          <a:prstGeom prst="rect">
            <a:avLst/>
          </a:prstGeom>
          <a:noFill/>
        </p:spPr>
        <p:txBody>
          <a:bodyPr wrap="square">
            <a:spAutoFit/>
          </a:bodyPr>
          <a:lstStyle/>
          <a:p>
            <a:pPr algn="ctr">
              <a:defRPr sz="1800" b="1">
                <a:solidFill>
                  <a:srgbClr val="14223D"/>
                </a:solidFill>
                <a:latin typeface="Aptos"/>
              </a:defRPr>
            </a:pPr>
            <a:r>
              <a:t>A smart traffic controller is first trained in simulation, evaluated statistically, checked against safety constraints, and only then considered for deployment. This workflow emphasizes □□□□ before real-world operation.</a:t>
            </a:r>
          </a:p>
        </p:txBody>
      </p:sp>
      <p:sp>
        <p:nvSpPr>
          <p:cNvPr id="7" name="Rounded Rectangle 6"/>
          <p:cNvSpPr/>
          <p:nvPr/>
        </p:nvSpPr>
        <p:spPr>
          <a:xfrm>
            <a:off x="3886200" y="2907792"/>
            <a:ext cx="4389120" cy="658368"/>
          </a:xfrm>
          <a:prstGeom prst="roundRect">
            <a:avLst/>
          </a:prstGeom>
          <a:solidFill>
            <a:srgbClr val="F5F7FA"/>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14223D"/>
                </a:solidFill>
                <a:latin typeface="Aptos"/>
              </a:defRPr>
            </a:pPr>
            <a:r>
              <a:t>□□□□</a:t>
            </a:r>
          </a:p>
        </p:txBody>
      </p:sp>
      <p:sp>
        <p:nvSpPr>
          <p:cNvPr id="8" name="TextBox 7"/>
          <p:cNvSpPr txBox="1"/>
          <p:nvPr/>
        </p:nvSpPr>
        <p:spPr>
          <a:xfrm>
            <a:off x="731520" y="3794760"/>
            <a:ext cx="10698480" cy="274320"/>
          </a:xfrm>
          <a:prstGeom prst="rect">
            <a:avLst/>
          </a:prstGeom>
          <a:noFill/>
        </p:spPr>
        <p:txBody>
          <a:bodyPr wrap="square">
            <a:spAutoFit/>
          </a:bodyPr>
          <a:lstStyle/>
          <a:p>
            <a:pPr algn="ctr">
              <a:defRPr sz="1200" b="0">
                <a:solidFill>
                  <a:srgbClr val="5C6878"/>
                </a:solidFill>
                <a:latin typeface="Aptos"/>
              </a:defRPr>
            </a:pPr>
            <a:r>
              <a:t>Select the option that correctly fills the missing concept.</a:t>
            </a:r>
          </a:p>
        </p:txBody>
      </p:sp>
      <p:sp>
        <p:nvSpPr>
          <p:cNvPr id="9" name="Rounded Rectangle 8"/>
          <p:cNvSpPr/>
          <p:nvPr/>
        </p:nvSpPr>
        <p:spPr>
          <a:xfrm>
            <a:off x="685800" y="4297680"/>
            <a:ext cx="5257800" cy="749808"/>
          </a:xfrm>
          <a:prstGeom prst="roundRect">
            <a:avLst/>
          </a:prstGeom>
          <a:solidFill>
            <a:srgbClr val="92D050"/>
          </a:solidFill>
          <a:ln w="17780">
            <a:solidFill>
              <a:srgbClr val="2672B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rPr dirty="0">
                <a:highlight>
                  <a:srgbClr val="FFFF00"/>
                </a:highlight>
              </a:rPr>
              <a:t>A.  validation and safety evaluation</a:t>
            </a:r>
          </a:p>
        </p:txBody>
      </p:sp>
      <p:sp>
        <p:nvSpPr>
          <p:cNvPr id="10" name="Rounded Rectangle 9"/>
          <p:cNvSpPr/>
          <p:nvPr/>
        </p:nvSpPr>
        <p:spPr>
          <a:xfrm>
            <a:off x="6263640" y="4297680"/>
            <a:ext cx="5257800" cy="749808"/>
          </a:xfrm>
          <a:prstGeom prst="roundRect">
            <a:avLst/>
          </a:prstGeom>
          <a:solidFill>
            <a:srgbClr val="E2F4E9"/>
          </a:solidFill>
          <a:ln w="17780">
            <a:solidFill>
              <a:srgbClr val="37A0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B.  unrestricted exploration</a:t>
            </a:r>
          </a:p>
        </p:txBody>
      </p:sp>
      <p:sp>
        <p:nvSpPr>
          <p:cNvPr id="11" name="Rounded Rectangle 10"/>
          <p:cNvSpPr/>
          <p:nvPr/>
        </p:nvSpPr>
        <p:spPr>
          <a:xfrm>
            <a:off x="685800" y="5349240"/>
            <a:ext cx="5257800" cy="749808"/>
          </a:xfrm>
          <a:prstGeom prst="roundRect">
            <a:avLst/>
          </a:prstGeom>
          <a:solidFill>
            <a:srgbClr val="FFF6D3"/>
          </a:solidFill>
          <a:ln w="17780">
            <a:solidFill>
              <a:srgbClr val="F2BE3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C.  reward removal</a:t>
            </a:r>
          </a:p>
        </p:txBody>
      </p:sp>
      <p:sp>
        <p:nvSpPr>
          <p:cNvPr id="12" name="Rounded Rectangle 11"/>
          <p:cNvSpPr/>
          <p:nvPr/>
        </p:nvSpPr>
        <p:spPr>
          <a:xfrm>
            <a:off x="6263640" y="5349240"/>
            <a:ext cx="5257800" cy="749808"/>
          </a:xfrm>
          <a:prstGeom prst="roundRect">
            <a:avLst/>
          </a:prstGeom>
          <a:solidFill>
            <a:srgbClr val="EDE6F9"/>
          </a:solidFill>
          <a:ln w="17780">
            <a:solidFill>
              <a:srgbClr val="7857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50" b="1">
                <a:solidFill>
                  <a:srgbClr val="232A34"/>
                </a:solidFill>
                <a:latin typeface="Aptos"/>
              </a:defRPr>
            </a:pPr>
            <a:r>
              <a:t>D.  single-agent randomization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DCA3D-DBE6-CECE-C440-969F19415C62}"/>
              </a:ext>
            </a:extLst>
          </p:cNvPr>
          <p:cNvSpPr>
            <a:spLocks noGrp="1"/>
          </p:cNvSpPr>
          <p:nvPr>
            <p:ph type="title"/>
          </p:nvPr>
        </p:nvSpPr>
        <p:spPr>
          <a:xfrm>
            <a:off x="1843549" y="559773"/>
            <a:ext cx="8229600" cy="1143000"/>
          </a:xfrm>
        </p:spPr>
        <p:txBody>
          <a:bodyPr>
            <a:normAutofit/>
          </a:bodyPr>
          <a:lstStyle/>
          <a:p>
            <a:r>
              <a:rPr lang="en-IN" sz="4800" dirty="0">
                <a:latin typeface="Cambria" panose="02040503050406030204" pitchFamily="18" charset="0"/>
                <a:ea typeface="Cambria" panose="02040503050406030204" pitchFamily="18" charset="0"/>
              </a:rPr>
              <a:t>CO5 ASSESSMENT PART- I</a:t>
            </a:r>
          </a:p>
        </p:txBody>
      </p:sp>
      <p:sp>
        <p:nvSpPr>
          <p:cNvPr id="3" name="Content Placeholder 2">
            <a:extLst>
              <a:ext uri="{FF2B5EF4-FFF2-40B4-BE49-F238E27FC236}">
                <a16:creationId xmlns:a16="http://schemas.microsoft.com/office/drawing/2014/main" id="{0BCC565C-3A67-CE97-F700-4C6C5F68D058}"/>
              </a:ext>
            </a:extLst>
          </p:cNvPr>
          <p:cNvSpPr>
            <a:spLocks noGrp="1"/>
          </p:cNvSpPr>
          <p:nvPr>
            <p:ph idx="1"/>
          </p:nvPr>
        </p:nvSpPr>
        <p:spPr>
          <a:xfrm>
            <a:off x="2128684" y="2534265"/>
            <a:ext cx="8229600" cy="4525963"/>
          </a:xfrm>
        </p:spPr>
        <p:txBody>
          <a:bodyPr>
            <a:normAutofit/>
          </a:bodyPr>
          <a:lstStyle/>
          <a:p>
            <a:pPr marL="0" indent="0">
              <a:buNone/>
            </a:pPr>
            <a:r>
              <a:rPr lang="en-IN" sz="4400" dirty="0">
                <a:latin typeface="Cambria" panose="02040503050406030204" pitchFamily="18" charset="0"/>
                <a:ea typeface="Cambria" panose="02040503050406030204" pitchFamily="18" charset="0"/>
              </a:rPr>
              <a:t>Name: P. Akhila</a:t>
            </a:r>
            <a:br>
              <a:rPr lang="en-IN" sz="4400" dirty="0">
                <a:latin typeface="Cambria" panose="02040503050406030204" pitchFamily="18" charset="0"/>
                <a:ea typeface="Cambria" panose="02040503050406030204" pitchFamily="18" charset="0"/>
              </a:rPr>
            </a:br>
            <a:r>
              <a:rPr lang="en-IN" sz="4400" dirty="0">
                <a:latin typeface="Cambria" panose="02040503050406030204" pitchFamily="18" charset="0"/>
                <a:ea typeface="Cambria" panose="02040503050406030204" pitchFamily="18" charset="0"/>
              </a:rPr>
              <a:t>Reg no: 192472320</a:t>
            </a:r>
            <a:br>
              <a:rPr lang="en-IN" sz="4400" dirty="0">
                <a:latin typeface="Cambria" panose="02040503050406030204" pitchFamily="18" charset="0"/>
                <a:ea typeface="Cambria" panose="02040503050406030204" pitchFamily="18" charset="0"/>
              </a:rPr>
            </a:br>
            <a:r>
              <a:rPr lang="en-IN" sz="4400" dirty="0">
                <a:latin typeface="Cambria" panose="02040503050406030204" pitchFamily="18" charset="0"/>
                <a:ea typeface="Cambria" panose="02040503050406030204" pitchFamily="18" charset="0"/>
              </a:rPr>
              <a:t>Course Code: 192472320</a:t>
            </a:r>
            <a:br>
              <a:rPr lang="en-IN" sz="4400" dirty="0">
                <a:latin typeface="Cambria" panose="02040503050406030204" pitchFamily="18" charset="0"/>
                <a:ea typeface="Cambria" panose="02040503050406030204" pitchFamily="18" charset="0"/>
              </a:rPr>
            </a:br>
            <a:r>
              <a:rPr lang="en-IN" sz="4400" dirty="0">
                <a:latin typeface="Cambria" panose="02040503050406030204" pitchFamily="18" charset="0"/>
                <a:ea typeface="Cambria" panose="02040503050406030204" pitchFamily="18" charset="0"/>
              </a:rPr>
              <a:t>Total Marks: 9/10</a:t>
            </a:r>
          </a:p>
          <a:p>
            <a:pPr marL="0" indent="0">
              <a:buNone/>
            </a:pPr>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46992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823</Words>
  <Application>Microsoft Office PowerPoint</Application>
  <PresentationFormat>Widescreen</PresentationFormat>
  <Paragraphs>97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CO5 ASSESSMENT PART- 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vincent gnanaraj</dc:creator>
  <cp:keywords/>
  <dc:description>generated using python-pptx</dc:description>
  <cp:lastModifiedBy>akhilaparla@outlook.com</cp:lastModifiedBy>
  <cp:revision>2</cp:revision>
  <dcterms:created xsi:type="dcterms:W3CDTF">2013-01-27T09:14:16Z</dcterms:created>
  <dcterms:modified xsi:type="dcterms:W3CDTF">2026-08-23T11:18:41Z</dcterms:modified>
  <cp:category/>
</cp:coreProperties>
</file>